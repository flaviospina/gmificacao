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4389120"/>
            <a:ext cx="15544800" cy="54864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292608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MANUAL DE USO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>
                <a:latin typeface="Segoe UI Emoji"/>
              </a:rP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7899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Como usar o Gamifica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5F3FF"/>
                </a:solidFill>
                <a:latin typeface="Calibri"/>
              </a:rPr>
              <a:t>Guia prático passo a passo para alunos, professores,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5F3FF"/>
                </a:solidFill>
                <a:latin typeface="Calibri"/>
              </a:rPr>
              <a:t>coordenação, administração e famílias.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4206240" cy="502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C6EF0"/>
                </a:solidFill>
                <a:latin typeface="Calibri"/>
              </a:rPr>
              <a:t>Senha inicial padrão: Gamifica@2026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5 perfis, cada um com sua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Ao entrar, o sistema leva cada pessoa automaticamente para o painel do seu perfil: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1064240" cy="713232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551176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87752"/>
            <a:ext cx="2377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Aluno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615184"/>
            <a:ext cx="749807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88888"/>
                </a:solidFill>
                <a:latin typeface="Calibri"/>
              </a:rPr>
              <a:t>Faz missões, ganha XP e moedas, sobe no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1064240" cy="713232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🧑‍🏫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10712"/>
            <a:ext cx="2377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Professor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438144"/>
            <a:ext cx="749807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88888"/>
                </a:solidFill>
                <a:latin typeface="Calibri"/>
              </a:rPr>
              <a:t>Cria atividades, hospeda quiz ao vivo, acompanha a turma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064240" cy="713232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97096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33672"/>
            <a:ext cx="2377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Coordenador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61104"/>
            <a:ext cx="749807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88888"/>
                </a:solidFill>
                <a:latin typeface="Calibri"/>
              </a:rPr>
              <a:t>Vê a escola inteira: engajamento, clima e destaques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64240" cy="713232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0056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2377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Administrador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84064"/>
            <a:ext cx="749807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88888"/>
                </a:solidFill>
                <a:latin typeface="Calibri"/>
              </a:rPr>
              <a:t>Gerencia usuários, módulos, loja e integrações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713232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843016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👨‍👩‍👧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879592"/>
            <a:ext cx="2377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Responsável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907024"/>
            <a:ext cx="749807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88888"/>
                </a:solidFill>
                <a:latin typeface="Calibri"/>
              </a:rPr>
              <a:t>Acompanha o filho e fala com os professores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Primeiro acesso: como entrar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685800" cy="6858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Abra o endereço da escola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0604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Acesse itthrive.com.br/gamifica no navegador do computador ou celular.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685800" cy="6858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2044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Escolha como entrar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7764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Botão "Entrar com Google" (conta da escola) ou e-mail e senha.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Troque a senha no 1º acesso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34924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Em "Meu Perfil", defina uma senha nova (mínimo 8 caracteres).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5212080" cy="3749039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2514600"/>
            <a:ext cx="822960" cy="82296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606040"/>
            <a:ext cx="3657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2E"/>
                </a:solidFill>
                <a:latin typeface="Calibri"/>
              </a:rPr>
              <a:t>Esqueceu a senha?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457200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7C6EF0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Quem usa Google não precisa de senha — é só usar o botão.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7C6EF0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Quem usa e-mail/senha pede ao administrador da escola para redefinir.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7C6EF0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O administrador gera uma senha temporária em Usuários → 🔑.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ALUNO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Aluno · painel e 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A tela inicial do aluno mostra o progresso e as missões disponíveis: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49240" cy="15544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88920"/>
            <a:ext cx="868680" cy="86868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9748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Banner de XP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3182112"/>
            <a:ext cx="38404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Nível atual, XP total, moedas 🪙, streak 🔥 e posição na turma.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68880"/>
            <a:ext cx="5349240" cy="15544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788920"/>
            <a:ext cx="868680" cy="86868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⚔️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69748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Missões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182112"/>
            <a:ext cx="38404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Cartões de atividades. Clique em Iniciar para fazer.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349240" cy="15544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572000"/>
            <a:ext cx="868680" cy="86868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♾️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48056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Tentativas ilimitadas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4965192"/>
            <a:ext cx="38404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Refaça quantas vezes quiser — só o melhor resultado conta.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251960"/>
            <a:ext cx="5349240" cy="15544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572000"/>
            <a:ext cx="868680" cy="86868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48056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Check-in do 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965192"/>
            <a:ext cx="38404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1 clique no emoji de humor = +5 XP. Só o professor vê o clima.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ALUNO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Aluno · as 6 formas de jogar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25856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5000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1752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Perguntas de múltipla escolha.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XP proporcional aos acertos.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96596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35424" y="225856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235000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Leitura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Lê o texto e responde às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perguntas de compreensão.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6596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225856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235000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Projeto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01752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Etapas enviadas ao professor,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que aprova cada uma.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2452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1596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Caça-palavras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98348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Clica na 1ª e na última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letra para marcar a palavra.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93192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422452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431596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Trabalho coletivo: todos do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grupo recebem o mesmo XP.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931920"/>
            <a:ext cx="3520440" cy="1783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6176" y="4224528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4315968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Ao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983480"/>
            <a:ext cx="30175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Entra com o PIN do telão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e responde em tempo real.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6EF0"/>
                </a:solidFill>
                <a:latin typeface="Calibri"/>
              </a:rPr>
              <a:t>Em todas: nunca há desconto de XP. Errar é só mais uma tentativa.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ALUNO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Aluno · recompensas e comunidade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560320"/>
            <a:ext cx="914400" cy="9144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🛍️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7490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2E"/>
                </a:solidFill>
                <a:latin typeface="Calibri"/>
              </a:rPr>
              <a:t>Loja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44368"/>
            <a:ext cx="379476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Troca GamiCoins por molduras de avatar, privilégios e prêmios. Moedas nunca são retiradas — gastar é escolha.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56032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50592"/>
            <a:ext cx="37490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2E"/>
                </a:solidFill>
                <a:latin typeface="Calibri"/>
              </a:rPr>
              <a:t>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944368"/>
            <a:ext cx="379476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Três abas: turma, escola e Evolução (XP da semana, recomeça toda segunda).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52628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16552"/>
            <a:ext cx="37490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2E"/>
                </a:solidFill>
                <a:latin typeface="Calibri"/>
              </a:rPr>
              <a:t>Mentoria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910328"/>
            <a:ext cx="379476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Se você é mentor, ganha XP quando seu colega aprendiz melhora.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4526280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16552"/>
            <a:ext cx="37490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2E"/>
                </a:solidFill>
                <a:latin typeface="Calibri"/>
              </a:rPr>
              <a:t>Conquistas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910328"/>
            <a:ext cx="379476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Medalhas por dedicação: sequência de dias, projetos, check-ins e mais.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Professor · criar uma atividade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48840"/>
            <a:ext cx="685800" cy="6858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Menu Atividades → Nova atividade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60320"/>
            <a:ext cx="100584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Escolha o tipo (quiz, leitura, projeto, caça-palavras ou grupo), a turma e a disciplina.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685800" cy="6858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8328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Defina XP e tentativas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40480"/>
            <a:ext cx="100584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Informe o XP da atividade (10–500) e o limite de tentativas (0 = ilimitadas, o padrão sem punição).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66344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Adicione o conteúdo e publique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120640"/>
            <a:ext cx="100584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Cadastre as questões/etapas/palavras e clique em Publicar. A turma é notificada na hora.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Professor · quiz ao vivo (game show)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51760" cy="3108960"/>
          </a:xfrm>
          <a:prstGeom prst="roundRect">
            <a:avLst/>
          </a:prstGeom>
          <a:gradFill rotWithShape="1">
            <a:gsLst>
              <a:gs pos="0">
                <a:srgbClr val="A855F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A855F7"/>
                </a:solidFill>
                <a:latin typeface="Segoe UI Emoj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Menu Ao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219456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Escolha um quiz já publicado e clique em Gerar PIN.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286000"/>
            <a:ext cx="2651760" cy="3108960"/>
          </a:xfrm>
          <a:prstGeom prst="roundRect">
            <a:avLst/>
          </a:prstGeom>
          <a:gradFill rotWithShape="1">
            <a:gsLst>
              <a:gs pos="0">
                <a:srgbClr val="A855F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61688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A855F7"/>
                </a:solidFill>
                <a:latin typeface="Segoe UI Emoj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Projete o telão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886200"/>
            <a:ext cx="219456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Um PIN de 6 dígitos aparece. Os alunos entram por ele.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86000"/>
            <a:ext cx="2651760" cy="3108960"/>
          </a:xfrm>
          <a:prstGeom prst="roundRect">
            <a:avLst/>
          </a:prstGeom>
          <a:gradFill rotWithShape="1">
            <a:gsLst>
              <a:gs pos="0">
                <a:srgbClr val="A855F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14616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A855F7"/>
                </a:solidFill>
                <a:latin typeface="Segoe UI Emoj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Conduza as questões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886200"/>
            <a:ext cx="219456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Clique em Próxima questão; veja respostas e placar ao vivo.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2286000"/>
            <a:ext cx="2651760" cy="3108960"/>
          </a:xfrm>
          <a:prstGeom prst="roundRect">
            <a:avLst/>
          </a:prstGeom>
          <a:gradFill rotWithShape="1">
            <a:gsLst>
              <a:gs pos="0">
                <a:srgbClr val="A855F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67544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A855F7"/>
                </a:solidFill>
                <a:latin typeface="Segoe UI Emoj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Encerre e dê 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3886200"/>
            <a:ext cx="219456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Ao final, o XP entra para cada aluno — e só pode melhorar.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78BFA"/>
                </a:solidFill>
                <a:latin typeface="Calibri"/>
              </a:rPr>
              <a:t>💡 É a nossa resposta ao Kahoot — com a diferença de que ninguém perde pontos.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Professor · metas e mentorias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931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560320"/>
            <a:ext cx="38404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Metas Coletivas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5488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Menu Metas → defina turma, tipo (XP, missões ou check-ins) e alvo.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Escolha a recompensa que CADA aluno ganha ao atingir.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Quando a turma bate a meta, todos recebem — automaticamente.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3931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42316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egoe UI Emoji"/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60320"/>
            <a:ext cx="38404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Mentoria entre Pares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75488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Menu Mentorias → forme a dupla mentor + aprendiz da mesma turma.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Defina o % da melhora do aprendiz que vira XP do mentor.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Acompanhe quanto XP de bônus cada mentoria já gerou.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Professor · acompanhamento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56032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latin typeface="Segoe UI Emoji"/>
              </a:rP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2316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Portfólio &amp; Entregas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07792"/>
            <a:ext cx="37947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Revise trabalhos e etapas de projeto. Você aprova (credita XP) ou devolve para melhorar — nunca reprova.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56032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latin typeface="Segoe UI Emoji"/>
              </a:rPr>
              <a:t>👨‍👩‍👧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2316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Portal da Família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907792"/>
            <a:ext cx="37947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Publique elogios no feed e converse por mensagem com os responsáveis. Tudo positivo.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52628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latin typeface="Segoe UI Emoji"/>
              </a:rPr>
              <a:t>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38912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Clima da turma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73752"/>
            <a:ext cx="37947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Veja o humor médio dos check-ins e o Índice de Clima. Serve para acolher, nunca punir.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3492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452628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latin typeface="Segoe UI Emoj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89120"/>
            <a:ext cx="3840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Relatórios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873752"/>
            <a:ext cx="379476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Conclusão por atividade, alunos com baixo engajamento e exportação em CSV.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COORDENADOR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Coordenador · a escola inteira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88888"/>
                </a:solidFill>
                <a:latin typeface="Calibri"/>
              </a:rPr>
              <a:t>O coordenador não cria atividades — ele acompanha e exporta: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349240" cy="13258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6032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99232"/>
            <a:ext cx="3931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Engajamento de cada turma, XP médio e professor responsável.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77440"/>
            <a:ext cx="5349240" cy="13258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🧑‍🏫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Professores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99232"/>
            <a:ext cx="3931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Quantas atividades, metas e quizzes ao vivo cada um criou.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349240" cy="13258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1605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6908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Destaques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507992"/>
            <a:ext cx="3931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Top alunos por XP total, por evolução da semana e por streak.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200"/>
            <a:ext cx="5349240" cy="13258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069080"/>
            <a:ext cx="3931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Clima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507992"/>
            <a:ext cx="3931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Índice de Clima da escola e de cada turma (bem-estar dos alunos).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1106424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532120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23560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2E"/>
                </a:solidFill>
                <a:latin typeface="Calibri"/>
              </a:rPr>
              <a:t>Exportar CSV: baixe planilhas de alunos, turmas e clima para seus relatórios oficiais.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Administrador · configuração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5059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Usuários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0896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Cadastre pessoas, importe alunos por CSV e vincule às turmas, professores e responsáveis.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19456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7992" y="246888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45059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Módulos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310896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Ligue/desligue funções (loja, ao vivo, metas, família…) com um clique.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19456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246888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45059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Loja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10896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Crie os itens que os alunos compram com GamiCoins e defina os preços.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43484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1655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Integrações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7492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Configure o Google Classroom informando as credenciais da escola.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416052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443484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41655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Sistema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507492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Ajuste XP máximo, bônus de streak, moedas por XP e outros parâmetros.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160520"/>
            <a:ext cx="3520440" cy="17373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38744" y="4434840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416552"/>
            <a:ext cx="2286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5074920"/>
            <a:ext cx="306324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Baixe uma cópia completa do banco de dados quando quiser.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PERFIL: RESPONSÁVEL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Responsável · acompanhar o filho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86000"/>
            <a:ext cx="685800" cy="685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Veja o progresso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9748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Na tela inicial: XP, nível, sequência de dias e conquistas de cada filho.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57600"/>
            <a:ext cx="685800" cy="685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61188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Acompanhe o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Receba elogios e avisos que o professor publica — sempre positivos.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029200"/>
            <a:ext cx="685800" cy="685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>
                <a:latin typeface="Segoe UI Emoji"/>
              </a:rPr>
              <a:t/>
            </a: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98348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Calibri"/>
              </a:rPr>
              <a:t>Converse com a escola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440680"/>
            <a:ext cx="457200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88888"/>
                </a:solidFill>
                <a:latin typeface="Calibri"/>
              </a:rPr>
              <a:t>Menu Mensagens: fale diretamente com os professores do seu filho.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212080" cy="36576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9640" y="260604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846320" cy="21031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>No Gamifica você nunca verá pontuação negativa do seu filho.</a:t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>Tudo o que aparece é progresso — porque o sistema não registra punição.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502920"/>
            <a:ext cx="274320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LEMBRE-SE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As regras de ouro do Gamifica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106424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77440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 XP nunca diminui — está garantido na estrutura do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81528"/>
            <a:ext cx="1106424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163824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18688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Só o melhor resultado conta. Refazer só melhora, nunca piora.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22776"/>
            <a:ext cx="1106424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005072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59936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Moedas só saem por escolha do aluno. Cancelou um resgate? Devolve.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64024"/>
            <a:ext cx="1106424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👨‍👩‍👧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01184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Tudo que a família vê é positivo. Não existe registro de punição.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05272"/>
            <a:ext cx="1106424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687568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742432"/>
            <a:ext cx="9875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 Ranking de Evolução zera toda semana — todos têm nova chance.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BOAS PRÁTICAS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Dicas para começar bem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2199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Fique de olho no sino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2432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As notificações no topo avisam sobre novas missões, conquistas e mensagens.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228600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22199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Comece com uma meta simples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2432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Uma meta coletiva pequena engaja a turma logo na primeira semana.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370332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3931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Incentive o check-in diário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4164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Um clique por dia constrói o Índice de Clima e rende XP ao aluno.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7472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28232" y="370332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63931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Forme mentorias cedo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04164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Duplas de mentoria ajudam quem tem dificuldade e valorizam quem ajuda.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512064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5663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Funciona no celular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45896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O sistema é responsivo — alunos podem jogar pelo próprio telefone.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92040"/>
            <a:ext cx="5349240" cy="12344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28232" y="5120640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latin typeface="Segoe UI Emoji"/>
              </a:rPr>
              <a:t>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056632"/>
            <a:ext cx="3977639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2E"/>
                </a:solidFill>
                <a:latin typeface="Calibri"/>
              </a:rPr>
              <a:t>Troque a senha padrão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458968"/>
            <a:ext cx="402336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Peça que todos alterem a senha inicial no primeiro acesso.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1828800"/>
            <a:ext cx="15544800" cy="64008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49240" y="1463040"/>
            <a:ext cx="1371600" cy="13716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0">
                <a:latin typeface="Segoe UI Emoji"/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Pronto para começar!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5F3FF"/>
                </a:solidFill>
                <a:latin typeface="Calibri"/>
              </a:rPr>
              <a:t>Qualquer dúvida, fale direto com o criador do sistema.</a:t>
            </a:r>
          </a:p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F5F3FF"/>
                </a:solidFill>
                <a:latin typeface="Calibri"/>
              </a:rPr>
              <a:t>Suporte em português, sem ticket, sem robô.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394960"/>
            <a:ext cx="2834640" cy="5486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C6EF0"/>
                </a:solidFill>
                <a:latin typeface="Calibri"/>
              </a:rPr>
              <a:t>itthrive.com.br/gamifica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5394960"/>
            <a:ext cx="3383280" cy="5486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C6EF0"/>
                </a:solidFill>
                <a:latin typeface="Calibri"/>
              </a:rPr>
              <a:t>prof.flavio.spina@gmail.com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