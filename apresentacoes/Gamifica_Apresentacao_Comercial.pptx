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4206240"/>
            <a:ext cx="15544800" cy="54864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40233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★  ÚNICO NO MERCADO MUNDIAL  ★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>
                <a:latin typeface="Segoe UI Emoji"/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única plataforma de gamificação escolar que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motiva SEM PUNIR — e faz o que ninguém mais faz.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94960"/>
            <a:ext cx="2743200" cy="502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C6EF0"/>
                </a:solidFill>
                <a:latin typeface="Calibri"/>
              </a:rPr>
              <a:t>itthrive.com.br/gamifica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172200"/>
            <a:ext cx="32918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A78BFA"/>
                </a:solidFill>
                <a:latin typeface="Calibri"/>
              </a:rPr>
              <a:t>Apresentação institucional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02920"/>
            <a:ext cx="246888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2E"/>
                </a:solidFill>
                <a:latin typeface="Calibri"/>
              </a:rPr>
              <a:t>A gamificação que existe hoje PUNE o aluno.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888888"/>
                </a:solidFill>
                <a:latin typeface="Calibri"/>
              </a:rPr>
              <a:t>Os dois líderes mundiais dependem estruturalmente de tirar pontos de quem já conquistou: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394960" cy="2377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383280"/>
            <a:ext cx="822960" cy="822960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39319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1A2E"/>
                </a:solidFill>
                <a:latin typeface="Calibri"/>
              </a:rPr>
              <a:t>ClassDojo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180+ países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7548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✕  </a:t>
            </a:r>
            <a:r>
              <a:rPr sz="1300">
                <a:solidFill>
                  <a:srgbClr val="1A1A2E"/>
                </a:solidFill>
                <a:latin typeface="Calibri"/>
              </a:rPr>
              <a:t>Registra pontos NEGATIVOS de comportamento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✕  </a:t>
            </a:r>
            <a:r>
              <a:rPr sz="1300">
                <a:solidFill>
                  <a:srgbClr val="1A1A2E"/>
                </a:solidFill>
                <a:latin typeface="Calibri"/>
              </a:rPr>
              <a:t>A criança perde na frente da turma toda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63240"/>
            <a:ext cx="5394960" cy="2377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3383280"/>
            <a:ext cx="822960" cy="822960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429000"/>
            <a:ext cx="39319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1A2E"/>
                </a:solidFill>
                <a:latin typeface="Calibri"/>
              </a:rPr>
              <a:t>Classcraft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93192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8 milhões de usuários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0560"/>
            <a:ext cx="47548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✕  </a:t>
            </a:r>
            <a:r>
              <a:rPr sz="1300">
                <a:solidFill>
                  <a:srgbClr val="1A1A2E"/>
                </a:solidFill>
                <a:latin typeface="Calibri"/>
              </a:rPr>
              <a:t>O avatar PERDE vida (HP) por mau comportamento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✕  </a:t>
            </a:r>
            <a:r>
              <a:rPr sz="1300">
                <a:solidFill>
                  <a:srgbClr val="1A1A2E"/>
                </a:solidFill>
                <a:latin typeface="Calibri"/>
              </a:rPr>
              <a:t>Errar e falhar viram castigo dentro do jogo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Resultado: quem mais precisa de estímulo é justamente quem mais é penalizado — e desiste.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502920"/>
            <a:ext cx="22860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 VIRADA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 se o erro fosse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só mais uma tentativa?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7899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78BFA"/>
                </a:solidFill>
                <a:latin typeface="Calibri"/>
              </a:rPr>
              <a:t>No Gamifica, o aluno tenta quantas vezes quiser. Só o melhor resultado conta.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78BFA"/>
                </a:solidFill>
                <a:latin typeface="Calibri"/>
              </a:rPr>
              <a:t>O XP nunca diminui — está escrito na estrutura do sistema, não é promessa de marketing.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3520440" cy="141732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489204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♾️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4892040"/>
            <a:ext cx="2103120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Tentativas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ilimitadas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663440"/>
            <a:ext cx="3520440" cy="141732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489204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892040"/>
            <a:ext cx="2103120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Só o melhor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resultado conta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663440"/>
            <a:ext cx="3520440" cy="141732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489204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892040"/>
            <a:ext cx="2103120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XP nunca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diminui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502920"/>
            <a:ext cx="292608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EXCLUSIVIDADE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2E"/>
                </a:solidFill>
                <a:latin typeface="Calibri"/>
              </a:rPr>
              <a:t>4 mecânicas que NENHUMA outra</a:t>
            </a:r>
          </a:p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2E"/>
                </a:solidFill>
                <a:latin typeface="Calibri"/>
              </a:rPr>
              <a:t>plataforma de gamificação 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Pesquisamos ClassDojo, Classcraft, Kahoot!, Quizizz, Blooket e Gimkit. Nenhum oferece o que vem a seguir: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2651760" cy="2286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3977639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2064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Ranking de Evolução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703320"/>
            <a:ext cx="1280160" cy="36576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657600"/>
            <a:ext cx="2651760" cy="2286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24528" y="3977639"/>
            <a:ext cx="1005840" cy="100584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512064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Metas Coletivas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703320"/>
            <a:ext cx="1280160" cy="36576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657600"/>
            <a:ext cx="2651760" cy="2286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77456" y="3977639"/>
            <a:ext cx="1005840" cy="10058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512064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Mentoria entre Pares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0296" y="3703320"/>
            <a:ext cx="1280160" cy="3657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3657600"/>
            <a:ext cx="2651760" cy="2286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30384" y="3977639"/>
            <a:ext cx="1005840" cy="10058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512064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Termômetro de Bem-estar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3224" y="3703320"/>
            <a:ext cx="1280160" cy="3657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7C6EF0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C6EF0"/>
                </a:solidFill>
                <a:latin typeface="Calibri"/>
              </a:rPr>
              <a:t>INÉDITO ·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31089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Ranking de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"Toda segunda-feira, todo aluno recomeça a disputa."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858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❌  O que o mercado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70408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O ranking conta o XP acumulado. Quem começa atrás nunca alcança — e desiste de competir.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⚙️  Como funciona no Gamifica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7040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7C6EF0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Ranking semanal pelo XP GANHO na semana, não pelo total.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7C6EF0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O aluno que mais evoluiu aparece no topo — mesmo sendo o último no geral.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7C6EF0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Zera toda segunda: cada semana é uma chance nova de brilhar.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12080"/>
            <a:ext cx="7040880" cy="1143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5349240"/>
            <a:ext cx="658368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7C6EF0"/>
                </a:solidFill>
                <a:latin typeface="Calibri"/>
              </a:rPr>
              <a:t>💡  Premia esforço e progresso, não a largada. Ninguém fica para trás por definição.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855F7"/>
                </a:solidFill>
                <a:latin typeface="Calibri"/>
              </a:rPr>
              <a:t>INÉDITO ·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31089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Metas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Coletivas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"A turma vence junta — ou ainda-não-venceu junta."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858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❌  O que o mercado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70408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A competição é individual ou entre equipes: sempre cria perdedores dentro da sala.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⚙️  Como funciona no Gamifica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7040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O professor define uma meta para a turma inteira (ex.: 5.000 XP juntos).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Se a turma atinge, TODOS ganham a recompensa.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Se não atinge, ninguém perde nada — só continua tentando.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12080"/>
            <a:ext cx="7040880" cy="1143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5349240"/>
            <a:ext cx="658368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A855F7"/>
                </a:solidFill>
                <a:latin typeface="Calibri"/>
              </a:rPr>
              <a:t>💡  Transforma colegas em aliados. Cooperação no lugar de rivalidade.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A34A"/>
                </a:solidFill>
                <a:latin typeface="Calibri"/>
              </a:rPr>
              <a:t>INÉDITO ·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31089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Mentoria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entre 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"Ajudar o colega passa a valer XP de verdade."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858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❌  O que o mercado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70408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Nenhuma plataforma recompensa academicamente o ato de um aluno ajudar o outro.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⚙️  Como funciona no Gamifica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7040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O professor forma duplas de mentor e aprendiz.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Quando o aprendiz melhora a nota, o mentor ganha % dessa melhora em XP.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Os melhores alunos viram aliados de quem tem dificuldade.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12080"/>
            <a:ext cx="7040880" cy="1143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5349240"/>
            <a:ext cx="658368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6A34A"/>
                </a:solidFill>
                <a:latin typeface="Calibri"/>
              </a:rPr>
              <a:t>💡  O bom aluno lucra ensinando. O que tem dificuldade ganha um parceiro.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D97706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D97706"/>
                </a:solidFill>
                <a:latin typeface="Calibri"/>
              </a:rPr>
              <a:t>INÉDITO · 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31089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Termômetro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 Bem-estar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"O aluno diz como está — e a escola escuta."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858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❌  O que o mercado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704088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O Classcraft mede 'clima' a partir do comportamento que o professor registra (e pune).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7132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⚙️  Como funciona no Gamifica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7040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Check-in diário de humor em 1 clique (5 emojis), valendo XP.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Professor e coordenador veem o clima AGREGADO da turma.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</a:rPr>
              <a:t>O dado vem do próprio aluno — nunca gera punição, só acolhimento.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212080"/>
            <a:ext cx="7040880" cy="11430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5349240"/>
            <a:ext cx="658368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D97706"/>
                </a:solidFill>
                <a:latin typeface="Calibri"/>
              </a:rPr>
              <a:t>💡  Um Índice de Clima construído para cuidar, não para vigiar.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502920"/>
            <a:ext cx="27432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PROVA DIRETA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2E"/>
                </a:solidFill>
                <a:latin typeface="Calibri"/>
              </a:rPr>
              <a:t>Gamifica vs. os líderes de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247120" cy="47548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Critério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194560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ClassDojo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94560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Classcraft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670048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Filosofia de pontuação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70048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Sem punição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670048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Pontos negativos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70048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Perde vida/HP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45536"/>
            <a:ext cx="11247120" cy="47548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3145536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45536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Ranking de Evolução semanal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45536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145536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145536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621024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21024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Metas coletivas de turma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21024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621024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21024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96512"/>
            <a:ext cx="11247120" cy="47548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4096512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096512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Mentoria entre pares com XP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096512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096512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096512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572000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72000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Termômetro de bem-estar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72000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572000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572000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47488"/>
            <a:ext cx="11247120" cy="47548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5047488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47488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Portal da família positivo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5047488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047488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Parcial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047488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5522976"/>
            <a:ext cx="2651760" cy="4754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522976"/>
            <a:ext cx="37490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Suporte nativo em português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5522976"/>
            <a:ext cx="246888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522976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Traduzido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522976"/>
            <a:ext cx="214884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Traduzido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88888"/>
                </a:solidFill>
                <a:latin typeface="Calibri"/>
              </a:rPr>
              <a:t>Fonte: relatório comparativo de mercado (julho/2026).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0" y="502920"/>
            <a:ext cx="301752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ESPAÇO DESOCUPADO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Um espaço que ninguém ocupa.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8813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78BFA"/>
                </a:solidFill>
                <a:latin typeface="Calibri"/>
              </a:rPr>
              <a:t>Nenhum concorrente — nacional ou internacional — assume a filosofia "sem punição" como pilar central.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78BFA"/>
                </a:solidFill>
                <a:latin typeface="Calibri"/>
              </a:rPr>
              <a:t>No Brasil, não há concorrente direto dedicado a esse nicho.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2651760" cy="182880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57800"/>
            <a:ext cx="237744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concorrentes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sem punição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206240"/>
            <a:ext cx="2651760" cy="182880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438912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5257800"/>
            <a:ext cx="237744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mecânicas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inéditas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4206240"/>
            <a:ext cx="2651760" cy="182880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438912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5257800"/>
            <a:ext cx="237744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perfis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integrados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4206240"/>
            <a:ext cx="2651760" cy="182880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4584" y="4389120"/>
            <a:ext cx="23774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5257800"/>
            <a:ext cx="237744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em português,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com o criador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37744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TODOS GANHAM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2E"/>
                </a:solidFill>
                <a:latin typeface="Calibri"/>
              </a:rPr>
              <a:t>Uma plataforma, quatro vitórias.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697480"/>
            <a:ext cx="914400" cy="9144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Aluno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063240"/>
            <a:ext cx="3749039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Aprende sem medo de errar. Cada tentativa só melhora — nunca perde.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69748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🧑‍🏫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6032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63240"/>
            <a:ext cx="3749039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Menos correção manual, mais engajamento. Vê quem precisa de ajuda na hora.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66344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52628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Coordenação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029200"/>
            <a:ext cx="3749039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Índice de Clima e relatórios prontos para acompanhar a escola inteira.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2519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663440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👨‍👩‍👧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52628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Família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029200"/>
            <a:ext cx="3749039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Recebe só notícias positivas do filho. Fala direto com o professor.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1828800"/>
            <a:ext cx="15544800" cy="64008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>
                <a:latin typeface="Segoe UI Emoji"/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Vamos gamificar sua escola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sem punir ninguém?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78BFA"/>
                </a:solidFill>
                <a:latin typeface="Calibri"/>
              </a:rPr>
              <a:t>Instância dedicada por escola · dados isolados · suporte direto com o criador.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402336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7C6EF0"/>
                </a:solidFill>
                <a:latin typeface="Calibri"/>
              </a:rPr>
              <a:t>itthrive.com.br/gamifica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5029200"/>
            <a:ext cx="420624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C6EF0"/>
                </a:solidFill>
                <a:latin typeface="Calibri"/>
              </a:rPr>
              <a:t>prof.flavio.spina@gmail.com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Agende uma demonstração e veja as 4 mecânicas exclusivas funcionando ao vivo.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49240" y="1737360"/>
            <a:ext cx="1463040" cy="14630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2E"/>
                </a:solidFill>
                <a:latin typeface="Calibri"/>
              </a:rPr>
              <a:t>Errar faz parte de aprender.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7C6EF0"/>
                </a:solidFill>
                <a:latin typeface="Calibri"/>
              </a:rPr>
              <a:t>Punir, não.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