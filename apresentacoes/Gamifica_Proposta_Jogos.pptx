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0" y="4023360"/>
            <a:ext cx="15544800" cy="5486400"/>
          </a:xfrm>
          <a:prstGeom prst="rect">
            <a:avLst/>
          </a:prstGeom>
          <a:gradFill rotWithShape="1">
            <a:gsLst>
              <a:gs pos="0">
                <a:srgbClr val="1A1A2E"/>
              </a:gs>
              <a:gs pos="100000">
                <a:srgbClr val="7C6EF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77240"/>
            <a:ext cx="4206240" cy="457200"/>
          </a:xfrm>
          <a:prstGeom prst="roundRect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PROPOSTA DE NOVOS JOGOS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554480"/>
            <a:ext cx="1005840" cy="10058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200">
                <a:latin typeface="Segoe UI Emoji"/>
              </a:rPr>
              <a:t>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1078992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Calibri"/>
              </a:rPr>
              <a:t>Além do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6070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500" b="0" i="0">
                <a:solidFill>
                  <a:srgbClr val="F5F3FF"/>
                </a:solidFill>
                <a:latin typeface="Calibri"/>
              </a:rPr>
              <a:t>Jogos diferentes, inovadores e desafiantes —</a:t>
            </a:r>
          </a:p>
          <a:p>
            <a:pPr algn="l">
              <a:lnSpc>
                <a:spcPct val="115000"/>
              </a:lnSpc>
            </a:pPr>
            <a:r>
              <a:rPr sz="2500" b="0" i="0">
                <a:solidFill>
                  <a:srgbClr val="F5F3FF"/>
                </a:solidFill>
                <a:latin typeface="Calibri"/>
              </a:rPr>
              <a:t>que fazem o aluno pensar, não só responder.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4023360" cy="50292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C6EF0"/>
                </a:solidFill>
                <a:latin typeface="Calibri"/>
              </a:rPr>
              <a:t>Gamifica · para apresentar ao sócio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438912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2E"/>
                </a:solidFill>
                <a:latin typeface="Calibri"/>
              </a:rPr>
              <a:t>Gamifica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35440" y="502920"/>
            <a:ext cx="237744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A2E"/>
                </a:solidFill>
                <a:latin typeface="Calibri"/>
              </a:rPr>
              <a:t>Os jogos “simples” viraram commodity.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888888"/>
                </a:solidFill>
                <a:latin typeface="Calibri"/>
              </a:rPr>
              <a:t>Quiz, caça‑palavras, forca, jogo da memória e associação estão em TODAS as plataformas: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3474720" cy="64008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❓ Quiz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3108960"/>
            <a:ext cx="3474720" cy="64008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🔤 Caça‑palavras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3108960"/>
            <a:ext cx="3474720" cy="64008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🎯 Forca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23360"/>
            <a:ext cx="3474720" cy="64008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🧠 Memória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4023360"/>
            <a:ext cx="3474720" cy="64008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🔗 Associação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4023360"/>
            <a:ext cx="3474720" cy="64008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🃏 Flashcards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110642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DC2626"/>
                </a:solidFill>
                <a:latin typeface="Calibri"/>
              </a:rPr>
              <a:t>Fazer “mais do mesmo” não diferencia o Gamifica. Precisamos de jogos que a concorrência não tem —</a:t>
            </a:r>
          </a:p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DC2626"/>
                </a:solidFill>
                <a:latin typeface="Calibri"/>
              </a:rPr>
              <a:t>e que a pesquisa mostra serem mais eficazes.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438912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Gamifica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0" y="502920"/>
            <a:ext cx="274320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BASE CIENTÍFICA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O que funciona MELHOR que o quiz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1106424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423160"/>
            <a:ext cx="548640" cy="5486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Segoe UI Emoji"/>
              </a:rPr>
              <a:t>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310896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Escape / mistério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377440"/>
            <a:ext cx="676656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78BFA"/>
                </a:solidFill>
                <a:latin typeface="Calibri"/>
              </a:rPr>
              <a:t>Maior evidência no fundamental: colaboração, motivação e desafio.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1106424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3383280"/>
            <a:ext cx="548640" cy="5486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Segoe UI Emoji"/>
              </a:rPr>
              <a:t>🛠️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337560"/>
            <a:ext cx="310896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Criação (construir)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337560"/>
            <a:ext cx="676656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78BFA"/>
                </a:solidFill>
                <a:latin typeface="Calibri"/>
              </a:rPr>
              <a:t>Aprender fazendo retém mais que só selecionar a resposta.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06240"/>
            <a:ext cx="1106424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4343400"/>
            <a:ext cx="548640" cy="5486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Segoe UI Emoji"/>
              </a:rPr>
              <a:t>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97680"/>
            <a:ext cx="310896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Narrativa com decisão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297680"/>
            <a:ext cx="676656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78BFA"/>
                </a:solidFill>
                <a:latin typeface="Calibri"/>
              </a:rPr>
              <a:t>Escolha com consequência engaja e dá sentido ao conteúdo.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66360"/>
            <a:ext cx="1106424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" y="5303520"/>
            <a:ext cx="548640" cy="5486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Segoe UI Emoji"/>
              </a:rPr>
              <a:t>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57800"/>
            <a:ext cx="310896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Erro produtivo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5257800"/>
            <a:ext cx="676656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78BFA"/>
                </a:solidFill>
                <a:latin typeface="Calibri"/>
              </a:rPr>
              <a:t>Falhar e tentar de novo gera criatividade — combina com o nosso “sem punição”.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78BFA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78BFA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438912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2E"/>
                </a:solidFill>
                <a:latin typeface="Calibri"/>
              </a:rPr>
              <a:t>Gamifica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52560" y="502920"/>
            <a:ext cx="2560320" cy="457200"/>
          </a:xfrm>
          <a:prstGeom prst="roundRect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NOSSA APOSTA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1A2E"/>
                </a:solidFill>
                <a:latin typeface="Calibri"/>
              </a:rPr>
              <a:t>6 jogos que ninguém oferece assim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520440" cy="19202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450592"/>
            <a:ext cx="777240" cy="77724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latin typeface="Segoe UI Emoji"/>
              </a:rP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87168"/>
            <a:ext cx="22860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Sala de Enigmas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301752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Escape room educativo — o carro‑chefe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75888"/>
            <a:ext cx="1554480" cy="329184"/>
          </a:xfrm>
          <a:prstGeom prst="roundRect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Fase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2194560"/>
            <a:ext cx="3520440" cy="19202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53711" y="2450592"/>
            <a:ext cx="777240" cy="777240"/>
          </a:xfrm>
          <a:prstGeom prst="ellipse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latin typeface="Segoe UI Emoji"/>
              </a:rPr>
              <a:t>🕵️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59" y="2487168"/>
            <a:ext cx="22860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Detetive Lógico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337560"/>
            <a:ext cx="301752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Mistério dedutivo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1999" y="3675888"/>
            <a:ext cx="1554480" cy="329184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Fase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2194560"/>
            <a:ext cx="3520440" cy="19202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2751" y="2450592"/>
            <a:ext cx="777240" cy="7772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latin typeface="Segoe UI Emoji"/>
              </a:rPr>
              <a:t>🛠️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3999" y="2487168"/>
            <a:ext cx="22860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Oficina do Criador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3337560"/>
            <a:ext cx="301752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Construir, não escolher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39" y="3675888"/>
            <a:ext cx="1554480" cy="329184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Fase 1‑2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43400"/>
            <a:ext cx="3520440" cy="19202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599432"/>
            <a:ext cx="777240" cy="777240"/>
          </a:xfrm>
          <a:prstGeom prst="ellipse">
            <a:avLst/>
          </a:prstGeom>
          <a:solidFill>
            <a:srgbClr val="F28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latin typeface="Segoe UI Emoji"/>
              </a:rPr>
              <a:t>🗺️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636008"/>
            <a:ext cx="22860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Jornada / Mundo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486400"/>
            <a:ext cx="301752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Mapa de aventura com narrativa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824728"/>
            <a:ext cx="1554480" cy="329184"/>
          </a:xfrm>
          <a:prstGeom prst="roundRect">
            <a:avLst/>
          </a:prstGeom>
          <a:solidFill>
            <a:srgbClr val="F28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Fase 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79" y="4343400"/>
            <a:ext cx="3520440" cy="19202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53711" y="4599432"/>
            <a:ext cx="777240" cy="777240"/>
          </a:xfrm>
          <a:prstGeom prst="ellipse">
            <a:avLst/>
          </a:prstGeom>
          <a:solidFill>
            <a:srgbClr val="14A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latin typeface="Segoe UI Emoji"/>
              </a:rPr>
              <a:t>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59" y="4636008"/>
            <a:ext cx="22860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Laboratório Maluco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1999" y="5486400"/>
            <a:ext cx="301752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Simulador de causa‑e‑efeito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1999" y="5824728"/>
            <a:ext cx="1554480" cy="329184"/>
          </a:xfrm>
          <a:prstGeom prst="roundRect">
            <a:avLst/>
          </a:prstGeom>
          <a:solidFill>
            <a:srgbClr val="14A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Fase 2‑3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9" y="4343400"/>
            <a:ext cx="3520440" cy="19202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02751" y="4599432"/>
            <a:ext cx="777240" cy="777240"/>
          </a:xfrm>
          <a:prstGeom prst="ellipse">
            <a:avLst/>
          </a:prstGeom>
          <a:solidFill>
            <a:srgbClr val="F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latin typeface="Segoe UI Emoji"/>
              </a:rPr>
              <a:t>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3999" y="4636008"/>
            <a:ext cx="22860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600" b="1" i="0">
                <a:solidFill>
                  <a:srgbClr val="1A1A2E"/>
                </a:solidFill>
                <a:latin typeface="Calibri"/>
              </a:rPr>
              <a:t>Escolha Sua Aventura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9" y="5486400"/>
            <a:ext cx="301752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888888"/>
                </a:solidFill>
                <a:latin typeface="Calibri"/>
              </a:rPr>
              <a:t>História ramificada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39" y="5824728"/>
            <a:ext cx="1554480" cy="329184"/>
          </a:xfrm>
          <a:prstGeom prst="roundRect">
            <a:avLst/>
          </a:prstGeom>
          <a:solidFill>
            <a:srgbClr val="F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Fase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gradFill rotWithShape="1">
            <a:gsLst>
              <a:gs pos="0">
                <a:srgbClr val="7C6EF0"/>
              </a:gs>
              <a:gs pos="100000">
                <a:srgbClr val="1A1A2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64008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800">
                <a:latin typeface="Segoe UI Emoji"/>
              </a:rPr>
              <a:t>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286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7C6EF0"/>
                </a:solidFill>
                <a:latin typeface="Calibri"/>
              </a:rPr>
              <a:t>Fase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310896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Sala de Enigmas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3108960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F5F3FF"/>
                </a:solidFill>
                <a:latin typeface="Calibri"/>
              </a:rPr>
              <a:t>Escape room educativo — o carro‑chefe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31089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Inovação  ★★★★★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0080"/>
            <a:ext cx="71323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6EF0"/>
                </a:solidFill>
                <a:latin typeface="Calibri"/>
              </a:rPr>
              <a:t>O QUE 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005840"/>
            <a:ext cx="704088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Uma sala temática com 3–5 cadeados. Cada cadeado abre ao resolver um enigma encadeado que exige conteúdo da matéria. Ao abrir todos, o aluno “escapa” e encontra o segredo. Tem história e pistas escondidas.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71323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6EF0"/>
                </a:solidFill>
                <a:latin typeface="Calibri"/>
              </a:rPr>
              <a:t>POR QUE É DIFERENTE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23160"/>
            <a:ext cx="704088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Não são perguntas soltas: é uma missão com narrativa e a sensação de “eu resolvi”. É o tipo com MAIOR evidência de eficácia no ensino fundamental.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83280"/>
            <a:ext cx="71323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6EF0"/>
                </a:solidFill>
                <a:latin typeface="Calibri"/>
              </a:rPr>
              <a:t>CIÊNCIA POR TRÁS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749040"/>
            <a:ext cx="704088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Desafio + narrativa + recordar em contexto; versão em dupla/turma aumenta a colaboração.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526280"/>
            <a:ext cx="71323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6EF0"/>
                </a:solidFill>
                <a:latin typeface="Calibri"/>
              </a:rPr>
              <a:t>EXEMPLO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892040"/>
            <a:ext cx="704088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Mat. 3º: cadeado 1 = some as idades e ache o código · cadeado 2 = complete a sequência · cadeado 3 = ache a figura escondida → código final.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5715000"/>
            <a:ext cx="7132320" cy="7772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5806440"/>
            <a:ext cx="667512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7C6EF0"/>
                </a:solidFill>
                <a:latin typeface="Calibri"/>
              </a:rPr>
              <a:t>💡 Casa com Metas Coletivas (a turma abre a sala junto) e Mentoria.   ·   Esforço: Médio‑alto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gradFill rotWithShape="1">
            <a:gsLst>
              <a:gs pos="0">
                <a:srgbClr val="1CB0F6"/>
              </a:gs>
              <a:gs pos="100000">
                <a:srgbClr val="1A1A2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64008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800">
                <a:latin typeface="Segoe UI Emoji"/>
              </a:rPr>
              <a:t>🕵️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286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CB0F6"/>
                </a:solidFill>
                <a:latin typeface="Calibri"/>
              </a:rPr>
              <a:t>Fase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310896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Detetive 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3108960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F5F3FF"/>
                </a:solidFill>
                <a:latin typeface="Calibri"/>
              </a:rPr>
              <a:t>Mistério dedutivo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31089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Inovação  ★★★★★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0080"/>
            <a:ext cx="71323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B0F6"/>
                </a:solidFill>
                <a:latin typeface="Calibri"/>
              </a:rPr>
              <a:t>O QUE 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005840"/>
            <a:ext cx="704088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Um caso a resolver (“Quem comeu o bolo da festa?”). O aluno recebe pistas/evidências e, cruzando fatos da matéria com lógica de eliminação, descobre o culpado.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71323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B0F6"/>
                </a:solidFill>
                <a:latin typeface="Calibri"/>
              </a:rPr>
              <a:t>POR QUE É DIFERENTE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23160"/>
            <a:ext cx="704088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Desenvolve raciocínio dedutivo e inferência — quase nenhuma plataforma tem. Foge totalmente do decoreba.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83280"/>
            <a:ext cx="71323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B0F6"/>
                </a:solidFill>
                <a:latin typeface="Calibri"/>
              </a:rPr>
              <a:t>CIÊNCIA POR TRÁS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749040"/>
            <a:ext cx="704088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Pensamento lógico, eliminação de hipóteses e argumentação.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526280"/>
            <a:ext cx="71323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B0F6"/>
                </a:solidFill>
                <a:latin typeface="Calibri"/>
              </a:rPr>
              <a:t>EXEMPLO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892040"/>
            <a:ext cx="704088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Ciências 4º: “O suspeito é mamífero, vive na água e não põe ovos” → cruza características → golfinho.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5715000"/>
            <a:ext cx="7132320" cy="7772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5806440"/>
            <a:ext cx="667512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CB0F6"/>
                </a:solidFill>
                <a:latin typeface="Calibri"/>
              </a:rPr>
              <a:t>💡 Pistas podem ser revistas quantas vezes quiser (sem punição).   ·   Esforço: Médio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100000">
                <a:srgbClr val="1A1A2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64008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800">
                <a:latin typeface="Segoe UI Emoji"/>
              </a:rPr>
              <a:t>🛠️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286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6A34A"/>
                </a:solidFill>
                <a:latin typeface="Calibri"/>
              </a:rPr>
              <a:t>Fase 1‑2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310896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Oficina do Criador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3108960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F5F3FF"/>
                </a:solidFill>
                <a:latin typeface="Calibri"/>
              </a:rPr>
              <a:t>Construir, não escolher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31089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Inovação  ★★★★☆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0080"/>
            <a:ext cx="71323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A34A"/>
                </a:solidFill>
                <a:latin typeface="Calibri"/>
              </a:rPr>
              <a:t>O QUE 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005840"/>
            <a:ext cx="704088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Em vez de marcar a resposta certa, o aluno CONSTRÓI algo válido arrastando peças: um prato equilibrado (Ciências), uma frase (Português), um orçamento/figura (Matemática), uma linha do tempo (História), um mapa rotulado (Geografia).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71323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A34A"/>
                </a:solidFill>
                <a:latin typeface="Calibri"/>
              </a:rPr>
              <a:t>POR QUE É DIFERENTE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23160"/>
            <a:ext cx="704088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Criação em vez de seleção — produtivo e aberto, estilo “maker”/Minecraft, mas curricular.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83280"/>
            <a:ext cx="71323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A34A"/>
                </a:solidFill>
                <a:latin typeface="Calibri"/>
              </a:rPr>
              <a:t>CIÊNCIA POR TRÁS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749040"/>
            <a:ext cx="704088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Aprendizagem por construção; junta exemplo + prática + feedback (menor carga cognitiva); erro produtivo.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526280"/>
            <a:ext cx="71323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A34A"/>
                </a:solidFill>
                <a:latin typeface="Calibri"/>
              </a:rPr>
              <a:t>EXEMPLO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892040"/>
            <a:ext cx="704088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Ciências 2º: montar o prato saudável arrastando frutas, verduras e proteínas nas proporções certas.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5715000"/>
            <a:ext cx="7132320" cy="7772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5806440"/>
            <a:ext cx="667512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6A34A"/>
                </a:solidFill>
                <a:latin typeface="Calibri"/>
              </a:rPr>
              <a:t>💡 O professor define as peças e as regras de acerto.   ·   Esforço: Médio‑alto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gradFill rotWithShape="1">
            <a:gsLst>
              <a:gs pos="0">
                <a:srgbClr val="F28C1E"/>
              </a:gs>
              <a:gs pos="100000">
                <a:srgbClr val="1A1A2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64008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800">
                <a:latin typeface="Segoe UI Emoji"/>
              </a:rPr>
              <a:t>🗺️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286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28C1E"/>
                </a:solidFill>
                <a:latin typeface="Calibri"/>
              </a:rPr>
              <a:t>Fase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310896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Jornada / Mundo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3108960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F5F3FF"/>
                </a:solidFill>
                <a:latin typeface="Calibri"/>
              </a:rPr>
              <a:t>Mapa de aventura com narrativa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31089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Inovação  ★★★★☆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0080"/>
            <a:ext cx="71323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8C1E"/>
                </a:solidFill>
                <a:latin typeface="Calibri"/>
              </a:rPr>
              <a:t>O QUE 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005840"/>
            <a:ext cx="704088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Um mapa com nós de desafio. O aluno é um personagem que avança, desbloqueia regiões e escolhe caminhos, com uma história por trás (“A Expedição da Matemática”).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71323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8C1E"/>
                </a:solidFill>
                <a:latin typeface="Calibri"/>
              </a:rPr>
              <a:t>POR QUE É DIFERENTE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23160"/>
            <a:ext cx="704088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Transforma a lista de missões numa aventura visual com progressão e escolhas (modelo quest‑based).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83280"/>
            <a:ext cx="71323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8C1E"/>
                </a:solidFill>
                <a:latin typeface="Calibri"/>
              </a:rPr>
              <a:t>CIÊNCIA POR TRÁS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749040"/>
            <a:ext cx="704088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Persona, autonomia e metas curtas e claras — ótimo para foco de alunos neurodivergentes (TDAH, autismo).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526280"/>
            <a:ext cx="71323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8C1E"/>
                </a:solidFill>
                <a:latin typeface="Calibri"/>
              </a:rPr>
              <a:t>EXEMPLO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892040"/>
            <a:ext cx="704088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Geografia 5º: atravessar continentes; cada região pede um desafio para liberar a próxima.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5715000"/>
            <a:ext cx="7132320" cy="7772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5806440"/>
            <a:ext cx="667512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28C1E"/>
                </a:solidFill>
                <a:latin typeface="Calibri"/>
              </a:rPr>
              <a:t>💡 Os nós reaproveitam atividades já existentes; encaixa no nosso XP/níveis.   ·   Esforço: Médio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gradFill rotWithShape="1">
            <a:gsLst>
              <a:gs pos="0">
                <a:srgbClr val="14A38A"/>
              </a:gs>
              <a:gs pos="100000">
                <a:srgbClr val="1A1A2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64008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800">
                <a:latin typeface="Segoe UI Emoji"/>
              </a:rPr>
              <a:t>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286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A38A"/>
                </a:solidFill>
                <a:latin typeface="Calibri"/>
              </a:rPr>
              <a:t>Fase 2‑3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310896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Laboratório Maluco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3108960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F5F3FF"/>
                </a:solidFill>
                <a:latin typeface="Calibri"/>
              </a:rPr>
              <a:t>Simulador de causa‑e‑efeito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31089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Inovação  ★★★★★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0080"/>
            <a:ext cx="71323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A38A"/>
                </a:solidFill>
                <a:latin typeface="Calibri"/>
              </a:rPr>
              <a:t>O QUE 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005840"/>
            <a:ext cx="704088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Um sandbox onde o aluno mexe em variáveis e observa o resultado: regar/dar sol a uma planta, misturar cores, gerir uma barraquinha, mudar as estações num mapa.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71323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A38A"/>
                </a:solidFill>
                <a:latin typeface="Calibri"/>
              </a:rPr>
              <a:t>POR QUE É DIFERENTE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23160"/>
            <a:ext cx="704088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Exploração e descoberta (“e se eu fizer isso?”) — o erro produtivo é a mecânica central. Quase inexistente nas plataformas.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83280"/>
            <a:ext cx="71323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A38A"/>
                </a:solidFill>
                <a:latin typeface="Calibri"/>
              </a:rPr>
              <a:t>CIÊNCIA POR TRÁS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749040"/>
            <a:ext cx="704088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Ciclo hipótese → teste → observação; experimentação livre e segura.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526280"/>
            <a:ext cx="71323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A38A"/>
                </a:solidFill>
                <a:latin typeface="Calibri"/>
              </a:rPr>
              <a:t>EXEMPLO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892040"/>
            <a:ext cx="704088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Ciências 3º: variar água e luz e ver a planta crescer, murchar ou florir.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5715000"/>
            <a:ext cx="7132320" cy="7772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5806440"/>
            <a:ext cx="667512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A38A"/>
                </a:solidFill>
                <a:latin typeface="Calibri"/>
              </a:rPr>
              <a:t>💡 Sem punição por natureza: testar é o objetivo.   ·   Esforço: Alto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gradFill rotWithShape="1">
            <a:gsLst>
              <a:gs pos="0">
                <a:srgbClr val="F05A9E"/>
              </a:gs>
              <a:gs pos="100000">
                <a:srgbClr val="1A1A2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64008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800">
                <a:latin typeface="Segoe UI Emoji"/>
              </a:rPr>
              <a:t>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2860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05A9E"/>
                </a:solidFill>
                <a:latin typeface="Calibri"/>
              </a:rPr>
              <a:t>Fase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310896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Escolha Sua Aventura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3108960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F5F3FF"/>
                </a:solidFill>
                <a:latin typeface="Calibri"/>
              </a:rPr>
              <a:t>História ramificada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31089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Inovação  ★★★☆☆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0080"/>
            <a:ext cx="71323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5A9E"/>
                </a:solidFill>
                <a:latin typeface="Calibri"/>
              </a:rPr>
              <a:t>O QUE 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005840"/>
            <a:ext cx="704088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Uma história interativa em que cada decisão aplica um conhecimento; escolhas “menos boas” levam a desvios engraçados — nunca a game over.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71323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5A9E"/>
                </a:solidFill>
                <a:latin typeface="Calibri"/>
              </a:rPr>
              <a:t>POR QUE É DIFERENTE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23160"/>
            <a:ext cx="704088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Narrativa + decisão significativa + socioemocional; reforça o pilar “sem punição” pela própria mecânica.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83280"/>
            <a:ext cx="71323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5A9E"/>
                </a:solidFill>
                <a:latin typeface="Calibri"/>
              </a:rPr>
              <a:t>CIÊNCIA POR TRÁS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749040"/>
            <a:ext cx="704088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Decisão com consequência imediata e engajamento narrativo.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526280"/>
            <a:ext cx="71323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5A9E"/>
                </a:solidFill>
                <a:latin typeface="Calibri"/>
              </a:rPr>
              <a:t>EXEMPLO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892040"/>
            <a:ext cx="704088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Português/História: conduzir um personagem por escolhas que exigem interpretar e aplicar o conteúdo.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5715000"/>
            <a:ext cx="7132320" cy="7772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5806440"/>
            <a:ext cx="667512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05A9E"/>
                </a:solidFill>
                <a:latin typeface="Calibri"/>
              </a:rPr>
              <a:t>💡 Ótimo para temas transversais: meio ambiente, convivência, valores.   ·   Esforço: Médio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438912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2E"/>
                </a:solidFill>
                <a:latin typeface="Calibri"/>
              </a:rPr>
              <a:t>Gamifica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502920"/>
            <a:ext cx="246888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COMPARATIVO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2E"/>
                </a:solidFill>
                <a:latin typeface="Calibri"/>
              </a:rPr>
              <a:t>Visão geral das propostas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11064240" cy="566928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48840"/>
            <a:ext cx="374904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Jogo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0288" y="2148840"/>
            <a:ext cx="18288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Inovação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2148840"/>
            <a:ext cx="310896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Desenvolve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93808" y="2148840"/>
            <a:ext cx="164592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Esforço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15768"/>
            <a:ext cx="11064240" cy="566928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715768"/>
            <a:ext cx="374904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C6EF0"/>
                </a:solidFill>
                <a:latin typeface="Calibri"/>
              </a:rPr>
              <a:t>🔐 Sala de Enigmas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715768"/>
            <a:ext cx="18288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7706"/>
                </a:solidFill>
                <a:latin typeface="Calibri"/>
              </a:rPr>
              <a:t>★★★★★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715768"/>
            <a:ext cx="310896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Escape room educativo — o carro‑chefe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93808" y="2715768"/>
            <a:ext cx="164592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Médio‑alto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282696"/>
            <a:ext cx="374904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B0F6"/>
                </a:solidFill>
                <a:latin typeface="Calibri"/>
              </a:rPr>
              <a:t>🕵️ Detetive Lógico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3282696"/>
            <a:ext cx="18288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7706"/>
                </a:solidFill>
                <a:latin typeface="Calibri"/>
              </a:rPr>
              <a:t>★★★★★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3282696"/>
            <a:ext cx="310896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Mistério dedutivo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93808" y="3282696"/>
            <a:ext cx="164592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Médio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49624"/>
            <a:ext cx="11064240" cy="566928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849624"/>
            <a:ext cx="374904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A34A"/>
                </a:solidFill>
                <a:latin typeface="Calibri"/>
              </a:rPr>
              <a:t>🛠️ Oficina do Criador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3849624"/>
            <a:ext cx="18288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7706"/>
                </a:solidFill>
                <a:latin typeface="Calibri"/>
              </a:rPr>
              <a:t>★★★★☆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849624"/>
            <a:ext cx="310896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Construir, não escolher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8" y="3849624"/>
            <a:ext cx="164592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Médio‑alto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416552"/>
            <a:ext cx="374904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8C1E"/>
                </a:solidFill>
                <a:latin typeface="Calibri"/>
              </a:rPr>
              <a:t>🗺️ Jornada / Mundo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4416552"/>
            <a:ext cx="18288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7706"/>
                </a:solidFill>
                <a:latin typeface="Calibri"/>
              </a:rPr>
              <a:t>★★★★☆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4416552"/>
            <a:ext cx="310896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Mapa de aventura com narrativa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3808" y="4416552"/>
            <a:ext cx="164592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Médio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983480"/>
            <a:ext cx="11064240" cy="566928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983480"/>
            <a:ext cx="374904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A38A"/>
                </a:solidFill>
                <a:latin typeface="Calibri"/>
              </a:rPr>
              <a:t>🔬 Laboratório Maluco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4983480"/>
            <a:ext cx="18288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7706"/>
                </a:solidFill>
                <a:latin typeface="Calibri"/>
              </a:rPr>
              <a:t>★★★★★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4983480"/>
            <a:ext cx="310896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Simulador de causa‑e‑efeito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4983480"/>
            <a:ext cx="164592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Alto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550408"/>
            <a:ext cx="374904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05A9E"/>
                </a:solidFill>
                <a:latin typeface="Calibri"/>
              </a:rPr>
              <a:t>📖 Escolha Sua Aventura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5550408"/>
            <a:ext cx="182880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7706"/>
                </a:solidFill>
                <a:latin typeface="Calibri"/>
              </a:rPr>
              <a:t>★★★☆☆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1968" y="5550408"/>
            <a:ext cx="310896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História ramificada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93808" y="5550408"/>
            <a:ext cx="1645920" cy="5669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Médio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438912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Gamifica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502920"/>
            <a:ext cx="283464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RECOMENDAÇÃO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Por onde começar (Fase 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5349240" cy="2743200"/>
          </a:xfrm>
          <a:prstGeom prst="roundRect">
            <a:avLst/>
          </a:prstGeom>
          <a:gradFill rotWithShape="1">
            <a:gsLst>
              <a:gs pos="0">
                <a:srgbClr val="7C6EF0"/>
              </a:gs>
              <a:gs pos="100000">
                <a:srgbClr val="1A1A2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78892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>
                <a:latin typeface="Segoe UI Emoji"/>
              </a:rP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880360"/>
            <a:ext cx="36576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Sala de Enigmas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4663440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5F3FF"/>
                </a:solidFill>
                <a:latin typeface="Calibri"/>
              </a:rPr>
              <a:t>Não são perguntas soltas: é uma missão com narrativa e a sensação de “eu resolvi”. É o tipo com MAIOR evidência de eficácia no ensino fundamental.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468880"/>
            <a:ext cx="5349240" cy="2743200"/>
          </a:xfrm>
          <a:prstGeom prst="roundRect">
            <a:avLst/>
          </a:prstGeom>
          <a:gradFill rotWithShape="1">
            <a:gsLst>
              <a:gs pos="0">
                <a:srgbClr val="1CB0F6"/>
              </a:gs>
              <a:gs pos="100000">
                <a:srgbClr val="1A1A2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92240" y="278892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>
                <a:latin typeface="Segoe UI Emoji"/>
              </a:rPr>
              <a:t>🕵️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880360"/>
            <a:ext cx="36576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Detetive Lógico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931920"/>
            <a:ext cx="4663440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5F3FF"/>
                </a:solidFill>
                <a:latin typeface="Calibri"/>
              </a:rPr>
              <a:t>Desenvolve raciocínio dedutivo e inferência — quase nenhuma plataforma tem. Foge totalmente do decoreba.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A78BFA"/>
                </a:solidFill>
                <a:latin typeface="Calibri"/>
              </a:rPr>
              <a:t>São os dois de maior diferenciação, com esforço razoável, e ambos reforçam o nosso pilar “sem punição”.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A78BFA"/>
                </a:solidFill>
                <a:latin typeface="Calibri"/>
              </a:rPr>
              <a:t>Juntos, posicionam o Gamifica como a plataforma dos jogos que fazem pensar.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78BFA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78BFA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438912"/>
            <a:ext cx="27432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2E"/>
                </a:solidFill>
                <a:latin typeface="Calibri"/>
              </a:rPr>
              <a:t>Gamifica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03920" y="502920"/>
            <a:ext cx="3108960" cy="457200"/>
          </a:xfrm>
          <a:prstGeom prst="roundRect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CONTINUAÇÃO DO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2E"/>
                </a:solidFill>
                <a:latin typeface="Calibri"/>
              </a:rPr>
              <a:t>Roadmap de continuação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5349240" cy="19659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58568"/>
            <a:ext cx="3108960" cy="457200"/>
          </a:xfrm>
          <a:prstGeom prst="roundRect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Fase 1 · agora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484632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50" b="1">
                <a:solidFill>
                  <a:srgbClr val="7C6EF0"/>
                </a:solidFill>
                <a:latin typeface="Calibri"/>
              </a:rPr>
              <a:t>•  </a:t>
            </a:r>
            <a:r>
              <a:rPr sz="1250">
                <a:solidFill>
                  <a:srgbClr val="1A1A2E"/>
                </a:solidFill>
                <a:latin typeface="Calibri"/>
              </a:rPr>
              <a:t>🔐 Sala de Enigmas + 🕵️ Detetive Lógico (os dois mais diferenciados)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50" b="1">
                <a:solidFill>
                  <a:srgbClr val="7C6EF0"/>
                </a:solidFill>
                <a:latin typeface="Calibri"/>
              </a:rPr>
              <a:t>•  </a:t>
            </a:r>
            <a:r>
              <a:rPr sz="1250">
                <a:solidFill>
                  <a:srgbClr val="1A1A2E"/>
                </a:solidFill>
                <a:latin typeface="Calibri"/>
              </a:rPr>
              <a:t>Biblioteca inicial de casos/salas por ano e disciplina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50" b="1">
                <a:solidFill>
                  <a:srgbClr val="7C6EF0"/>
                </a:solidFill>
                <a:latin typeface="Calibri"/>
              </a:rPr>
              <a:t>•  </a:t>
            </a:r>
            <a:r>
              <a:rPr sz="1250">
                <a:solidFill>
                  <a:srgbClr val="1A1A2E"/>
                </a:solidFill>
                <a:latin typeface="Calibri"/>
              </a:rPr>
              <a:t>Integração com XP, Metas Coletivas e Mentoria já existentes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057400"/>
            <a:ext cx="5349240" cy="19659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2258568"/>
            <a:ext cx="3108960" cy="457200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834640"/>
            <a:ext cx="484632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50" b="1">
                <a:solidFill>
                  <a:srgbClr val="1CB0F6"/>
                </a:solidFill>
                <a:latin typeface="Calibri"/>
              </a:rPr>
              <a:t>•  </a:t>
            </a:r>
            <a:r>
              <a:rPr sz="1250">
                <a:solidFill>
                  <a:srgbClr val="1A1A2E"/>
                </a:solidFill>
                <a:latin typeface="Calibri"/>
              </a:rPr>
              <a:t>🛠️ Oficina do Criador (arrastar‑e‑soltar) e 🗺️ Jornada/Mundo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50" b="1">
                <a:solidFill>
                  <a:srgbClr val="1CB0F6"/>
                </a:solidFill>
                <a:latin typeface="Calibri"/>
              </a:rPr>
              <a:t>•  </a:t>
            </a:r>
            <a:r>
              <a:rPr sz="1250">
                <a:solidFill>
                  <a:srgbClr val="1A1A2E"/>
                </a:solidFill>
                <a:latin typeface="Calibri"/>
              </a:rPr>
              <a:t>📖 Escolha Sua Aventura para temas transversais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50" b="1">
                <a:solidFill>
                  <a:srgbClr val="1CB0F6"/>
                </a:solidFill>
                <a:latin typeface="Calibri"/>
              </a:rPr>
              <a:t>•  </a:t>
            </a:r>
            <a:r>
              <a:rPr sz="1250">
                <a:solidFill>
                  <a:srgbClr val="1A1A2E"/>
                </a:solidFill>
                <a:latin typeface="Calibri"/>
              </a:rPr>
              <a:t>Editor para o professor criar seus próprios enigmas e casos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5349240" cy="19659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4407408"/>
            <a:ext cx="3108960" cy="45720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Fase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83480"/>
            <a:ext cx="484632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50" b="1">
                <a:solidFill>
                  <a:srgbClr val="16A34A"/>
                </a:solidFill>
                <a:latin typeface="Calibri"/>
              </a:rPr>
              <a:t>•  </a:t>
            </a:r>
            <a:r>
              <a:rPr sz="1250">
                <a:solidFill>
                  <a:srgbClr val="1A1A2E"/>
                </a:solidFill>
                <a:latin typeface="Calibri"/>
              </a:rPr>
              <a:t>🔬 Laboratório Maluco (simuladores por disciplina)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50" b="1">
                <a:solidFill>
                  <a:srgbClr val="16A34A"/>
                </a:solidFill>
                <a:latin typeface="Calibri"/>
              </a:rPr>
              <a:t>•  </a:t>
            </a:r>
            <a:r>
              <a:rPr sz="1250">
                <a:solidFill>
                  <a:srgbClr val="1A1A2E"/>
                </a:solidFill>
                <a:latin typeface="Calibri"/>
              </a:rPr>
              <a:t>Banco de conteúdo ampliado (1º ao 9º ano)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50" b="1">
                <a:solidFill>
                  <a:srgbClr val="16A34A"/>
                </a:solidFill>
                <a:latin typeface="Calibri"/>
              </a:rPr>
              <a:t>•  </a:t>
            </a:r>
            <a:r>
              <a:rPr sz="1250">
                <a:solidFill>
                  <a:srgbClr val="1A1A2E"/>
                </a:solidFill>
                <a:latin typeface="Calibri"/>
              </a:rPr>
              <a:t>Modo cooperativo em turma para os novos jogos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206240"/>
            <a:ext cx="5349240" cy="196596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4407408"/>
            <a:ext cx="3108960" cy="457200"/>
          </a:xfrm>
          <a:prstGeom prst="roundRect">
            <a:avLst/>
          </a:prstGeom>
          <a:solidFill>
            <a:srgbClr val="F28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Transversais · em paralelo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983480"/>
            <a:ext cx="484632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50" b="1">
                <a:solidFill>
                  <a:srgbClr val="F28C1E"/>
                </a:solidFill>
                <a:latin typeface="Calibri"/>
              </a:rPr>
              <a:t>•  </a:t>
            </a:r>
            <a:r>
              <a:rPr sz="1250">
                <a:solidFill>
                  <a:srgbClr val="1A1A2E"/>
                </a:solidFill>
                <a:latin typeface="Calibri"/>
              </a:rPr>
              <a:t>Refino visual concluído (tema Aventura, jogos coloridos)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50" b="1">
                <a:solidFill>
                  <a:srgbClr val="F28C1E"/>
                </a:solidFill>
                <a:latin typeface="Calibri"/>
              </a:rPr>
              <a:t>•  </a:t>
            </a:r>
            <a:r>
              <a:rPr sz="1250">
                <a:solidFill>
                  <a:srgbClr val="1A1A2E"/>
                </a:solidFill>
                <a:latin typeface="Calibri"/>
              </a:rPr>
              <a:t>App/PWA para celular · integração Google Classroom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50" b="1">
                <a:solidFill>
                  <a:srgbClr val="F28C1E"/>
                </a:solidFill>
                <a:latin typeface="Calibri"/>
              </a:rPr>
              <a:t>•  </a:t>
            </a:r>
            <a:r>
              <a:rPr sz="1250">
                <a:solidFill>
                  <a:srgbClr val="1A1A2E"/>
                </a:solidFill>
                <a:latin typeface="Calibri"/>
              </a:rPr>
              <a:t>Analytics avançado + validação com escola piloto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19088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Gamifica · gamificação escolar sem punição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0" y="-1828800"/>
            <a:ext cx="15544800" cy="6400800"/>
          </a:xfrm>
          <a:prstGeom prst="rect">
            <a:avLst/>
          </a:prstGeom>
          <a:gradFill rotWithShape="1">
            <a:gsLst>
              <a:gs pos="0">
                <a:srgbClr val="1A1A2E"/>
              </a:gs>
              <a:gs pos="100000">
                <a:srgbClr val="7C6EF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49240" y="1554480"/>
            <a:ext cx="1371600" cy="1371600"/>
          </a:xfrm>
          <a:prstGeom prst="ellipse">
            <a:avLst/>
          </a:prstGeom>
          <a:solidFill>
            <a:srgbClr val="7C6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400">
                <a:latin typeface="Segoe UI Emoji"/>
              </a:rPr>
              <a:t>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Jogos que fazem o aluno pensar.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327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A78BFA"/>
                </a:solidFill>
                <a:latin typeface="Calibri"/>
              </a:rPr>
              <a:t>Escolham os jogos da Fase 1 e começamos a construir.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5394960"/>
            <a:ext cx="4114800" cy="54864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7C6EF0"/>
                </a:solidFill>
                <a:latin typeface="Calibri"/>
              </a:rPr>
              <a:t>itthrive.com.br/gamifica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