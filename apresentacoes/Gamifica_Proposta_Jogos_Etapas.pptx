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4114800"/>
            <a:ext cx="15544800" cy="54864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475488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NOVOS JOGOS · POR ETAPA DE ENSINO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>
                <a:latin typeface="Segoe UI Emoji"/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78992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Jogos que o Brasil</a:t>
            </a:r>
          </a:p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ainda não 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5F3FF"/>
                </a:solidFill>
                <a:latin typeface="Calibri"/>
              </a:rPr>
              <a:t>Da Educação Infantil ao Ensino Médio — o diferencial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5F3FF"/>
                </a:solidFill>
                <a:latin typeface="Calibri"/>
              </a:rPr>
              <a:t>frente às plataformas de gamificação brasileiras.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0" y="502920"/>
            <a:ext cx="3017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 LACUNA DO MERCADO 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O que as plataformas brasileiras fazem — e não fazem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394960" cy="3749039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88888"/>
                </a:solidFill>
                <a:latin typeface="Calibri"/>
              </a:rPr>
              <a:t>Já existe (Educacross, Khan,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84632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888888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Quiz e jogos de treino alinhados à BNCC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888888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Trilhas, missões, pontos e medalhas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888888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Ranking e relatórios de desempenho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888888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Foco em Infantil / Fundamental I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888888"/>
                </a:solidFill>
                <a:latin typeface="Calibri"/>
              </a:rPr>
              <a:t>•  </a:t>
            </a:r>
            <a:r>
              <a:rPr sz="1400">
                <a:solidFill>
                  <a:srgbClr val="1A1A2E"/>
                </a:solidFill>
                <a:latin typeface="Calibri"/>
              </a:rPr>
              <a:t>Português, Matemática e alfabetização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94960" cy="3749039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A855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846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Onde ninguém está (nossa chance)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84632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Socioemocional (SEL) para o Infantil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Simulação e causa-efeito (erro produtivo)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Argumentação, debate e negociação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ARG / investigação transmídia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Produção: mídia e redação ENEM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F5F3FF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Cobertura do Infantil ao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502920"/>
            <a:ext cx="283464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POR ETAPA (BNCC)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12 jogos novos, um portfólio por 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51760" cy="3291840"/>
          </a:xfrm>
          <a:prstGeom prst="roundRect">
            <a:avLst/>
          </a:prstGeom>
          <a:gradFill rotWithShape="1">
            <a:gsLst>
              <a:gs pos="0">
                <a:srgbClr val="F05A9E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Educação Infantil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5F3FF"/>
                </a:solidFill>
                <a:latin typeface="Calibri"/>
              </a:rPr>
              <a:t>3 a 5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🫧 Bichinho dos Sentimentos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07408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🎵 Orquestra dos Bichos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74336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🎬 Teatrinho Mágico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377440"/>
            <a:ext cx="2651760" cy="329184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60320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Fundamental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5F3FF"/>
                </a:solidFill>
                <a:latin typeface="Calibri"/>
              </a:rPr>
              <a:t>6 a 10 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840480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🌱 Guardião do Ecossistema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407408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🤝 Ilha da Convivência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974336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🕹️ Programe o Robô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2377440"/>
            <a:ext cx="2651760" cy="3291840"/>
          </a:xfrm>
          <a:prstGeom prst="roundRect">
            <a:avLst/>
          </a:prstGeom>
          <a:gradFill rotWithShape="1">
            <a:gsLst>
              <a:gs pos="0">
                <a:srgbClr val="1CB0F6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560320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Fundamental 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5F3FF"/>
                </a:solidFill>
                <a:latin typeface="Calibri"/>
              </a:rPr>
              <a:t>11 a 14 anos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840480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⚖️ Arena do Debate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407408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🏙️ Prefeito por um 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974336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🔬 Laboratório de Investigação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2377440"/>
            <a:ext cx="2651760" cy="3291840"/>
          </a:xfrm>
          <a:prstGeom prst="roundRect">
            <a:avLst/>
          </a:prstGeom>
          <a:gradFill rotWithShape="1">
            <a:gsLst>
              <a:gs pos="0">
                <a:srgbClr val="0E8A7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2560320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Ensino Médio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38328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5F3FF"/>
                </a:solidFill>
                <a:latin typeface="Calibri"/>
              </a:rPr>
              <a:t>15 a 17 anos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840480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🌐 Caçada Transmídia (ARG)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4407408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✍️ Arquiteto da Redação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4974336"/>
            <a:ext cx="2286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🏛️ Cúpula das Nações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gradFill rotWithShape="1">
            <a:gsLst>
              <a:gs pos="0">
                <a:srgbClr val="F05A9E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Educação Infantil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5A9E"/>
                </a:solidFill>
                <a:latin typeface="Calibri"/>
              </a:rPr>
              <a:t>3 a 5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3FF"/>
                </a:solidFill>
                <a:latin typeface="Calibri"/>
              </a:rPr>
              <a:t>Sem leitura, muito toque, som e afeto. Foco no socioemocional e sensório — a maior lacuna do mercado BR.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057400"/>
            <a:ext cx="1005840" cy="1005840"/>
          </a:xfrm>
          <a:prstGeom prst="ellipse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Bichinho dos Sentimentos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88920"/>
            <a:ext cx="2148840" cy="347472"/>
          </a:xfrm>
          <a:prstGeom prst="roundRect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Socioemocional (SEL)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A criança cuida de um bichinho lendo a emoção dele (feliz, triste, com medo) e escolhe como acolher.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POR QUE É INÉDITO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Jogo socioemocional digital para o Infantil é quase inexistente no Brasil — e é o que a pesquisa recente mais valida nessa 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BNCC: 'O eu, o outro e o nós' — reconhecer e nomear emoções.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32119" y="2057400"/>
            <a:ext cx="1005840" cy="1005840"/>
          </a:xfrm>
          <a:prstGeom prst="ellipse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Orquestra dos Bichos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2788920"/>
            <a:ext cx="2148840" cy="347472"/>
          </a:xfrm>
          <a:prstGeom prst="roundRect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Ritmo e padrões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O QUE 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Repete e cria sequências de sons tocando os animais; depois inventa o próprio ritmo.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POR QUE É INÉDITO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Trabalha escuta e padrão (base da matemática e da música), fugindo do quiz de resposta certa/errada.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BNCC: escuta, imaginação e noções de sequência/padrão.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1159" y="2057400"/>
            <a:ext cx="1005840" cy="1005840"/>
          </a:xfrm>
          <a:prstGeom prst="ellipse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Teatrinho Mágico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2788920"/>
            <a:ext cx="2148840" cy="347472"/>
          </a:xfrm>
          <a:prstGeom prst="roundRect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Narrativa criativa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O QUE 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Arrasta personagens e cenários para montar uma historinha; o app narra em voz alta o que ela criou.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05A9E"/>
                </a:solidFill>
                <a:latin typeface="Calibri"/>
              </a:rPr>
              <a:t>POR QUE É INÉDITO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Criação livre (produção), não seleção — desenvolve oralidade e imaginação sem 'errar'.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BNCC: oralidade, criatividade e linguagem.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gradFill rotWithShape="1">
            <a:gsLst>
              <a:gs pos="0">
                <a:srgbClr val="7C6EF0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Fundamental 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C6EF0"/>
                </a:solidFill>
                <a:latin typeface="Calibri"/>
              </a:rPr>
              <a:t>6 a 10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3FF"/>
                </a:solidFill>
                <a:latin typeface="Calibri"/>
              </a:rPr>
              <a:t>Além dos jogos já propostos (enigmas, detetive, oficina): simulação viva, convivência e lógica.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05740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Guardião do Ecossistema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88920"/>
            <a:ext cx="2148840" cy="347472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Simulação de causa-efeito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Equilibra um mini-mundo vivo (sol, água, plantas e bichos) e observa as consequências das escolhas.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POR QUE É INÉDITO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Pensamento sistêmico e erro produtivo — o oposto do quiz; nenhuma plataforma BR faz simulação viva no Fund. 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Ciências: cadeias alimentares, ciclo da água, sustentabilidade.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32119" y="205740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Ilha da Convivência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2788920"/>
            <a:ext cx="2148840" cy="347472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Socioemocional narrativo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O QUE 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Resolve pequenas situações de convivência escolhendo atitudes e vendo o que acontece com o grupo.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POR QUE É INÉDITO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Socioemocional aplicado (competências gerais da BNCC) — ausente nas plataformas gamificadas nacionais.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BNCC: empatia, cooperação, resolução de conflitos.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1159" y="205740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🕹️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Programe o Robô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2788920"/>
            <a:ext cx="2148840" cy="347472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Pensamento computacional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O QUE 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Monta sequências de comandos para o robô cumprir missões que aplicam o conteúdo da aula.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C6EF0"/>
                </a:solidFill>
                <a:latin typeface="Calibri"/>
              </a:rPr>
              <a:t>POR QUE É INÉDITO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Lógica e algoritmo integrados ao currículo (e sem punição) — vai além do 'quiz gamificado' comum.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Matemática/lógica: sequência, direção, resolução de problemas.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gradFill rotWithShape="1">
            <a:gsLst>
              <a:gs pos="0">
                <a:srgbClr val="1CB0F6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Fundamental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CB0F6"/>
                </a:solidFill>
                <a:latin typeface="Calibri"/>
              </a:rPr>
              <a:t>11 a 14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3FF"/>
                </a:solidFill>
                <a:latin typeface="Calibri"/>
              </a:rPr>
              <a:t>Adolescentes querem desafio real: argumentar, decidir e investigar com autonomia.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057400"/>
            <a:ext cx="1005840" cy="100584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Arena do Debate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88920"/>
            <a:ext cx="2148840" cy="347472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Argumentação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Recebe uma tese, monta argumentos com evidências, antecipa contra-argumentos e os colegas avaliam.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POR QUE É INÉDITO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Competência argumentativa (núcleo da BNCC de Língua Portuguesa) — inexistente nas plataformas de gamificação BR.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Língua Portuguesa: argumentação, repertório, escuta ativa.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32119" y="2057400"/>
            <a:ext cx="1005840" cy="100584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Prefeito por um 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2788920"/>
            <a:ext cx="2148840" cy="347472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Simulação de gestão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O QUE 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Administra uma cidade com orçamento limitado e decisões que afetam saúde, meio ambiente e educação.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POR QUE É INÉDITO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Sim-management com trade-offs reais — pensamento sistêmico que nenhum concorrente nacional oferece.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Geografia, Matemática e Cidadania: recursos, impacto, escolhas públicas.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1159" y="2057400"/>
            <a:ext cx="1005840" cy="100584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Laboratório de Investigação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2788920"/>
            <a:ext cx="2148840" cy="347472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Método científico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O QUE 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Formula hipótese, roda um experimento simulado, coleta dados e tira conclusões — como um cientista.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B0F6"/>
                </a:solidFill>
                <a:latin typeface="Calibri"/>
              </a:rPr>
              <a:t>POR QUE É INÉDITO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Investigação de verdade (hipótese→dado→conclusão), não pergunta de múltipla escolha.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Ciências: método científico, análise de dados, argumentação.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gradFill rotWithShape="1">
            <a:gsLst>
              <a:gs pos="0">
                <a:srgbClr val="0E8A77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Ensino Médio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8A77"/>
                </a:solidFill>
                <a:latin typeface="Calibri"/>
              </a:rPr>
              <a:t>15 a 17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F5F3FF"/>
                </a:solidFill>
                <a:latin typeface="Calibri"/>
              </a:rPr>
              <a:t>Protagonismo, interdisciplinaridade e preparação para o ENEM — com jogos que exigem pensar alto.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057400"/>
            <a:ext cx="1005840" cy="1005840"/>
          </a:xfrm>
          <a:prstGeom prst="ellipse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Caçada Transmídia (ARG)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788920"/>
            <a:ext cx="2148840" cy="347472"/>
          </a:xfrm>
          <a:prstGeom prst="roundRect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Investigação interdisciplinar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O QUE 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Um mistério que se desenrola por vários 'canais' ao longo de dias; a turma junta pistas e resolve o caso.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POR QUE É INÉDITO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Alternate Reality Game educacional — praticamente nenhuma plataforma no mundo (e nenhuma no BR) oferece isso pronto.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Interdisciplinar: pesquisa, análise crítica, colaboração (perfil ENEM).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32119" y="2057400"/>
            <a:ext cx="1005840" cy="1005840"/>
          </a:xfrm>
          <a:prstGeom prst="ellipse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Arquiteto da Redação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2788920"/>
            <a:ext cx="2148840" cy="347472"/>
          </a:xfrm>
          <a:prstGeom prst="roundRect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Produção textual (ENEM)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O QUE 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Monta a redação peça por peça — tese, argumentos, repertório e proposta — com feedback estruturado em cada parte.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POR QUE É INÉDITO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Redação ENEM gamificada e guiada; as plataformas param no quiz e não treinam produção textual.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Língua Portuguesa: dissertação-argumentativa, coesão, repertório.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874519"/>
            <a:ext cx="3520440" cy="44805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1159" y="2057400"/>
            <a:ext cx="1005840" cy="1005840"/>
          </a:xfrm>
          <a:prstGeom prst="ellipse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🏛️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154680"/>
            <a:ext cx="32004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Cúpula das Nações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2788920"/>
            <a:ext cx="2148840" cy="347472"/>
          </a:xfrm>
          <a:prstGeom prst="roundRect">
            <a:avLst/>
          </a:prstGeom>
          <a:solidFill>
            <a:srgbClr val="0E8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Negociação e geopolítica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O QUE 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03250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Cada aluno representa um país e negocia acordos sobre clima, economia ou conflitos — um 'Modelo ONU' digital.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892040"/>
            <a:ext cx="3108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8A77"/>
                </a:solidFill>
                <a:latin typeface="Calibri"/>
              </a:rPr>
              <a:t>POR QUE É INÉDITO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129784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Role-play de negociação estruturada — não existe em plataforma de gamificação brasileira.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5989320"/>
            <a:ext cx="31089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88888"/>
                </a:solidFill>
                <a:latin typeface="Calibri"/>
              </a:rPr>
              <a:t>História, Geografia e Sociologia: geopolítica, negociação, cidadania global.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502920"/>
            <a:ext cx="27432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Gamifica vs. plataformas brasileiras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612880" cy="5486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14884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Concorrentes 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11612880" cy="5486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Socioemocional (SEL) de verdade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69748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Só quiz e pontos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Simulação e causa-efeito (erro produtivo)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24612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Resposta certa/errada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11612880" cy="5486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Argumentação e debate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79476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Não trabalham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ARG / investigação transmídia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4340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34340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Inexistente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612880" cy="5486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Produção (mídia, redação ENEM)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89204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89204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Só consumo/resposta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Cobertura Infantil → Médio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44068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44068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Foco em Fund. I / quiz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11612880" cy="54864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5669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Filosofia sem punição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989320"/>
            <a:ext cx="26517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✓ 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989320"/>
            <a:ext cx="27432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Rankings que punem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1828800"/>
            <a:ext cx="15544800" cy="64008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49240" y="1463040"/>
            <a:ext cx="1371600" cy="13716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0">
                <a:latin typeface="Segoe UI Emoji"/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 Infantil ao Médio, o que ninguém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78BFA"/>
                </a:solidFill>
                <a:latin typeface="Calibri"/>
              </a:rPr>
              <a:t>Escolham 1 jogo por etapa para um piloto e começamos.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5394960"/>
            <a:ext cx="4114800" cy="5486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C6EF0"/>
                </a:solidFill>
                <a:latin typeface="Calibri"/>
              </a:rPr>
              <a:t>itthrive.com.br/gamifica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